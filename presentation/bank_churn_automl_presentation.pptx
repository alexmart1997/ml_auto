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583adcefb74ec6" /><Relationship Type="http://schemas.openxmlformats.org/officeDocument/2006/relationships/extended-properties" Target="/docProps/app.xml" Id="R8973fafff9a143db" /><Relationship Type="http://schemas.openxmlformats.org/officeDocument/2006/relationships/officeDocument" Target="/ppt/presentation.xml" Id="R35619512392248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7f2e58b1e64dd9"/>
  </p:sldMasterIdLst>
  <p:notesMasterIdLst>
    <p:notesMasterId xmlns:r="http://schemas.openxmlformats.org/officeDocument/2006/relationships" r:id="R1f4d46ab6ed24ea1"/>
  </p:notesMasterIdLst>
  <p:sldIdLst>
    <p:sldId xmlns:r="http://schemas.openxmlformats.org/officeDocument/2006/relationships" id="256" r:id="R661e7e9636764ea9"/>
    <p:sldId xmlns:r="http://schemas.openxmlformats.org/officeDocument/2006/relationships" id="257" r:id="Rfe1cbdbcb10249dd"/>
    <p:sldId xmlns:r="http://schemas.openxmlformats.org/officeDocument/2006/relationships" id="258" r:id="Re48afebdd5ff46ee"/>
    <p:sldId xmlns:r="http://schemas.openxmlformats.org/officeDocument/2006/relationships" id="259" r:id="Rd5665c143d0c4f46"/>
    <p:sldId xmlns:r="http://schemas.openxmlformats.org/officeDocument/2006/relationships" id="260" r:id="R9a72db3e92d34600"/>
    <p:sldId xmlns:r="http://schemas.openxmlformats.org/officeDocument/2006/relationships" id="261" r:id="Rb894a8bfb2a44a8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7f2e58b1e64dd9" /><Relationship Type="http://schemas.openxmlformats.org/officeDocument/2006/relationships/theme" Target="/ppt/theme/theme1.xml" Id="Ra308f0edd6be4da3" /><Relationship Type="http://schemas.openxmlformats.org/officeDocument/2006/relationships/notesMaster" Target="/ppt/notesMasters/notesMaster1.xml" Id="R1f4d46ab6ed24ea1" /><Relationship Type="http://schemas.openxmlformats.org/officeDocument/2006/relationships/presProps" Target="/ppt/presProps.xml" Id="Ra5a638b261584cd8" /><Relationship Type="http://schemas.openxmlformats.org/officeDocument/2006/relationships/viewProps" Target="/ppt/viewProps.xml" Id="R043eee86678d432f" /><Relationship Type="http://schemas.openxmlformats.org/officeDocument/2006/relationships/tableStyles" Target="/ppt/tableStyles.xml" Id="R748e5a09ae7a481f" /><Relationship Type="http://schemas.openxmlformats.org/officeDocument/2006/relationships/slide" Target="/ppt/slides/slide1.xml" Id="R661e7e9636764ea9" /><Relationship Type="http://schemas.openxmlformats.org/officeDocument/2006/relationships/slide" Target="/ppt/slides/slide2.xml" Id="Rfe1cbdbcb10249dd" /><Relationship Type="http://schemas.openxmlformats.org/officeDocument/2006/relationships/slide" Target="/ppt/slides/slide3.xml" Id="Re48afebdd5ff46ee" /><Relationship Type="http://schemas.openxmlformats.org/officeDocument/2006/relationships/slide" Target="/ppt/slides/slide4.xml" Id="Rd5665c143d0c4f46" /><Relationship Type="http://schemas.openxmlformats.org/officeDocument/2006/relationships/slide" Target="/ppt/slides/slide5.xml" Id="R9a72db3e92d34600" /><Relationship Type="http://schemas.openxmlformats.org/officeDocument/2006/relationships/slide" Target="/ppt/slides/slide6.xml" Id="Rb894a8bfb2a44a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8b344e897984b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5d81a279874fa3" /><Relationship Type="http://schemas.openxmlformats.org/officeDocument/2006/relationships/notesMaster" Target="/ppt/notesMasters/notesMaster1.xml" Id="R6cc4fdf0ae3b4d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f11a7d55734f8d" /><Relationship Type="http://schemas.openxmlformats.org/officeDocument/2006/relationships/notesMaster" Target="/ppt/notesMasters/notesMaster1.xml" Id="Rc0b27958a67945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f0e3d779404524" /><Relationship Type="http://schemas.openxmlformats.org/officeDocument/2006/relationships/notesMaster" Target="/ppt/notesMasters/notesMaster1.xml" Id="Rc767768ab84846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128631305f4bf6" /><Relationship Type="http://schemas.openxmlformats.org/officeDocument/2006/relationships/notesMaster" Target="/ppt/notesMasters/notesMaster1.xml" Id="R94f8b6de401c42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2d6d489afb40ba" /><Relationship Type="http://schemas.openxmlformats.org/officeDocument/2006/relationships/notesMaster" Target="/ppt/notesMasters/notesMaster1.xml" Id="R568d506e620545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f9aa7e7a41411e" /><Relationship Type="http://schemas.openxmlformats.org/officeDocument/2006/relationships/notesMaster" Target="/ppt/notesMasters/notesMaster1.xml" Id="Rfb510e69f02f40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d2f8629654e5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d9098413a4d4888" /><Relationship Type="http://schemas.openxmlformats.org/officeDocument/2006/relationships/slideLayout" Target="/ppt/slideLayouts/slideLayout2.xml" Id="R6886ca08f61a4c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86ca08f61a4c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9631f6bb9f494c" /><Relationship Type="http://schemas.openxmlformats.org/officeDocument/2006/relationships/notesSlide" Target="/ppt/notesSlides/notesSlide1.xml" Id="Ra71eaf9fc6164d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856730bebe423e" /><Relationship Type="http://schemas.openxmlformats.org/officeDocument/2006/relationships/notesSlide" Target="/ppt/notesSlides/notesSlide2.xml" Id="Rac6e4bde59f348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f8c96b4f224c42" /><Relationship Type="http://schemas.openxmlformats.org/officeDocument/2006/relationships/chart" Target="/ppt/slides/charts/chart1.xml" Id="R6268d7bfbed141a6" /><Relationship Type="http://schemas.openxmlformats.org/officeDocument/2006/relationships/notesSlide" Target="/ppt/notesSlides/notesSlide3.xml" Id="R4e87b510b9f64b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20c529194e422e" /><Relationship Type="http://schemas.openxmlformats.org/officeDocument/2006/relationships/chart" Target="/ppt/slides/charts/chart2.xml" Id="R5e85932289fb4032" /><Relationship Type="http://schemas.openxmlformats.org/officeDocument/2006/relationships/notesSlide" Target="/ppt/notesSlides/notesSlide4.xml" Id="R8534298d4a0c44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4915d290094dec" /><Relationship Type="http://schemas.openxmlformats.org/officeDocument/2006/relationships/notesSlide" Target="/ppt/notesSlides/notesSlide5.xml" Id="R405c119f5cc848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d1a1249be84140" /><Relationship Type="http://schemas.openxmlformats.org/officeDocument/2006/relationships/notesSlide" Target="/ppt/notesSlides/notesSlide6.xml" Id="R2d874937d62942df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[object Object]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Количество</c:v>
          </c:tx>
          <c:cat>
            <c:strLit>
              <c:ptCount val="4"/>
              <c:pt idx="0">
                <c:v>Клиент</c:v>
              </c:pt>
              <c:pt idx="1">
                <c:v>Банк</c:v>
              </c:pt>
              <c:pt idx="2">
                <c:v>Категории</c:v>
              </c:pt>
              <c:pt idx="3">
                <c:v>Инженерия</c:v>
              </c:pt>
            </c:strLit>
          </c:cat>
          <c:val>
            <c:numLit>
              <c:formatCode/>
              <c:ptCount val="4"/>
              <c:pt idx="0">
                <c:v>4</c:v>
              </c:pt>
              <c:pt idx="1">
                <c:v>4</c:v>
              </c:pt>
              <c:pt idx="2">
                <c:v>2</c:v>
              </c:pt>
              <c:pt idx="3">
                <c:v>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[object Object]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ROC-AUC</c:v>
          </c:tx>
          <c:cat>
            <c:strLit>
              <c:ptCount val="3"/>
              <c:pt idx="0">
                <c:v>GradientBoosting</c:v>
              </c:pt>
              <c:pt idx="1">
                <c:v>RandomForest</c:v>
              </c:pt>
              <c:pt idx="2">
                <c:v>LogisticRegression</c:v>
              </c:pt>
            </c:strLit>
          </c:cat>
          <c:val>
            <c:numLit>
              <c:formatCode/>
              <c:ptCount val="3"/>
              <c:pt idx="0">
                <c:v>0.8877</c:v>
              </c:pt>
              <c:pt idx="1">
                <c:v>0.8844</c:v>
              </c:pt>
              <c:pt idx="2">
                <c:v>0.8156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731FFF8-8F3C-47CB-8987-95B020E1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5"/>
          </a:solidFill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EB13DDE7-3398-4E9B-915A-7034162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723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45D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A188C-DBFD-4D5C-9B07-F7788A4F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BBD7CD"/>
                </a:solidFill>
              </a:defRPr>
            </a:pPr>
            <a:r>
              <a:rPr sz="2100">
                <a:solidFill>
                  <a:srgbClr val="BBD7CD"/>
                </a:solidFill>
              </a:rPr>
              <a:t>Алекс Март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24843-821A-4980-9434-36E7A941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"/>
            <a:ext cx="11239500" cy="1924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FFFFFF"/>
                </a:solidFill>
              </a:defRPr>
            </a:pPr>
            <a:r>
              <a:rPr sz="6300" b="1">
                <a:solidFill>
                  <a:srgbClr val="FFFFFF"/>
                </a:solidFill>
              </a:rPr>
              <a:t>Автоматизация ML:</a:t>
            </a:r>
          </a:p>
          <a:p xmlns:a="http://schemas.openxmlformats.org/drawingml/2006/main">
            <a:pPr>
              <a:defRPr sz="6300" b="1">
                <a:solidFill>
                  <a:srgbClr val="FFFFFF"/>
                </a:solidFill>
              </a:defRPr>
            </a:pPr>
            <a:r>
              <a:rPr sz="6300" b="1">
                <a:solidFill>
                  <a:srgbClr val="FFFFFF"/>
                </a:solidFill>
              </a:rPr>
              <a:t>отток клиентов банка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C1AAA-8938-4EB7-9B1E-85291E5E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81153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DDEBE5"/>
                </a:solidFill>
              </a:defRPr>
            </a:pPr>
            <a:r>
              <a:rPr sz="2400">
                <a:solidFill>
                  <a:srgbClr val="DDEBE5"/>
                </a:solidFill>
              </a:rPr>
              <a:t>Scikit-learn пайплайн: ETL, AutoML, мониторинг, Docker и CI/CD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97F50-F663-488F-AF63-D19984B8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E8B45D"/>
                </a:solidFill>
              </a:defRPr>
            </a:pPr>
            <a:r>
              <a:rPr sz="6900" b="1">
                <a:solidFill>
                  <a:srgbClr val="E8B45D"/>
                </a:solidFill>
              </a:rPr>
              <a:t>0.888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2D9F5-C1B6-4478-89F6-2B1B4F6B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DEBE5"/>
                </a:solidFill>
              </a:defRPr>
            </a:pPr>
            <a:r>
              <a:rPr sz="1800">
                <a:solidFill>
                  <a:srgbClr val="DDEBE5"/>
                </a:solidFill>
              </a:rPr>
              <a:t>ROC-AUC на валидации</a:t>
            </a:r>
          </a:p>
        </p:txBody>
      </p:sp>
    </p:spTree>
    <p:extLst>
      <p:ext uri="{BB962C8B-B14F-4D97-AF65-F5344CB8AC3E}">
        <p14:creationId xmlns:p14="http://schemas.microsoft.com/office/powerpoint/2010/main" val="9246700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5C7B3CA-2A05-4D88-B378-99985E16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EB21B9-A635-46C3-B11B-4F810A5A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8201D"/>
                </a:solidFill>
              </a:defRPr>
            </a:pPr>
            <a:r>
              <a:rPr sz="4350" b="1">
                <a:solidFill>
                  <a:srgbClr val="18201D"/>
                </a:solidFill>
              </a:rPr>
              <a:t>Задача: находить риск оттока заранее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40703-9048-4DB5-881E-CAB00117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5706B"/>
                </a:solidFill>
              </a:defRPr>
            </a:pPr>
            <a:r>
              <a:rPr sz="2100">
                <a:solidFill>
                  <a:srgbClr val="65706B"/>
                </a:solidFill>
              </a:rPr>
              <a:t>Банк может направлять удерживающие действия на клиентов с максимальной вероятностью ухода.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722B7-E465-4169-A5C4-B5EDF7BC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828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01D"/>
                </a:solidFill>
              </a:defRPr>
            </a:pPr>
            <a:r>
              <a:rPr sz="2100">
                <a:solidFill>
                  <a:srgbClr val="18201D"/>
                </a:solidFill>
              </a:rPr>
              <a:t>• Целевая переменная: Exited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AD651-34F9-4565-97C2-9C7FB301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828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01D"/>
                </a:solidFill>
              </a:defRPr>
            </a:pPr>
            <a:r>
              <a:rPr sz="2100">
                <a:solidFill>
                  <a:srgbClr val="18201D"/>
                </a:solidFill>
              </a:rPr>
              <a:t>• Положительный класс: клиент ушёл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2A0FC-21B7-4E8A-897E-F36CE935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828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01D"/>
                </a:solidFill>
              </a:defRPr>
            </a:pPr>
            <a:r>
              <a:rPr sz="2100">
                <a:solidFill>
                  <a:srgbClr val="18201D"/>
                </a:solidFill>
              </a:rPr>
              <a:t>• Бизнес-действие: приоритизация retention-кампаний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31885-80D4-47C5-B378-3E6D9231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828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01D"/>
                </a:solidFill>
              </a:defRPr>
            </a:pPr>
            <a:r>
              <a:rPr sz="2100">
                <a:solidFill>
                  <a:srgbClr val="18201D"/>
                </a:solidFill>
              </a:rPr>
              <a:t>• Ключевая метрика: ROC-AUC для ранжирования риска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D02C0-6F88-4991-B625-FD3331DB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09850"/>
            <a:ext cx="7505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355C7D"/>
                </a:solidFill>
              </a:defRPr>
            </a:pPr>
            <a:r>
              <a:rPr sz="4350" b="1">
                <a:solidFill>
                  <a:srgbClr val="355C7D"/>
                </a:solidFill>
              </a:rPr>
              <a:t>165k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13AC7-FCEA-4115-A313-D075BD6D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52800"/>
            <a:ext cx="750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06B"/>
                </a:solidFill>
              </a:defRPr>
            </a:pPr>
            <a:r>
              <a:rPr sz="1650">
                <a:solidFill>
                  <a:srgbClr val="65706B"/>
                </a:solidFill>
              </a:rPr>
              <a:t>строк в обучающей выборке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3D953-0EED-4E5D-9D12-26E1FC2F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29050"/>
            <a:ext cx="7505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B94E48"/>
                </a:solidFill>
              </a:defRPr>
            </a:pPr>
            <a:r>
              <a:rPr sz="4350" b="1">
                <a:solidFill>
                  <a:srgbClr val="B94E48"/>
                </a:solidFill>
              </a:rPr>
              <a:t>21.16%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E3CBF-2D45-492B-A70F-72F25543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72000"/>
            <a:ext cx="750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06B"/>
                </a:solidFill>
              </a:defRPr>
            </a:pPr>
            <a:r>
              <a:rPr sz="1650">
                <a:solidFill>
                  <a:srgbClr val="65706B"/>
                </a:solidFill>
              </a:rPr>
              <a:t>доля ушедших клиентов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CC28F-C6E3-49F4-BB9B-1DF7504C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048250"/>
            <a:ext cx="7505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F7D6D"/>
                </a:solidFill>
              </a:defRPr>
            </a:pPr>
            <a:r>
              <a:rPr sz="4350" b="1">
                <a:solidFill>
                  <a:srgbClr val="2F7D6D"/>
                </a:solidFill>
              </a:rPr>
              <a:t>110k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E03AE-AAAE-4005-BAF5-58D5F41C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791200"/>
            <a:ext cx="750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06B"/>
                </a:solidFill>
              </a:defRPr>
            </a:pPr>
            <a:r>
              <a:rPr sz="1650">
                <a:solidFill>
                  <a:srgbClr val="65706B"/>
                </a:solidFill>
              </a:rPr>
              <a:t>клиентов для инференса</a:t>
            </a:r>
          </a:p>
        </p:txBody>
      </p:sp>
    </p:spTree>
    <p:extLst>
      <p:ext uri="{BB962C8B-B14F-4D97-AF65-F5344CB8AC3E}">
        <p14:creationId xmlns:p14="http://schemas.microsoft.com/office/powerpoint/2010/main" val="19351855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59833AF-0C0A-4741-96B8-06E4BB25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82AC61-2971-43DD-87A1-E56F545C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01D"/>
                </a:solidFill>
              </a:defRPr>
            </a:pPr>
            <a:r>
              <a:rPr sz="4050" b="1">
                <a:solidFill>
                  <a:srgbClr val="18201D"/>
                </a:solidFill>
              </a:rPr>
              <a:t>Данные и ETL превращены в sklearn Pipeline</a:t>
            </a:r>
          </a:p>
        </p:txBody>
      </p:sp>
      <p:graphicFrame>
        <p:nvGraphicFramePr>
          <p:cNvPr id="3" name="etl-chart"/>
          <p:cNvGraphicFramePr/>
          <p:nvPr/>
        </p:nvGraphicFramePr>
        <p:xfrm>
          <a:off xmlns:a="http://schemas.openxmlformats.org/drawingml/2006/main" x="914400" y="1760220"/>
          <a:ext xmlns:a="http://schemas.openxmlformats.org/drawingml/2006/main" cx="164592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68d7bfbed141a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436AB-EE68-410D-B1F4-97817F4B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67450"/>
            <a:ext cx="514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8201D"/>
                </a:solidFill>
              </a:defRPr>
            </a:pPr>
            <a:r>
              <a:rPr sz="1950">
                <a:solidFill>
                  <a:srgbClr val="18201D"/>
                </a:solidFill>
              </a:rPr>
              <a:t>FunctionTransformer: новые признаки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9E13F-93F7-40CE-80CD-6C4CB26F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267450"/>
            <a:ext cx="5143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8201D"/>
                </a:solidFill>
              </a:defRPr>
            </a:pPr>
            <a:r>
              <a:rPr sz="1950">
                <a:solidFill>
                  <a:srgbClr val="18201D"/>
                </a:solidFill>
              </a:rPr>
              <a:t>ColumnTransformer: числовые и категориальные поля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BE76F-294C-4726-9653-D87955C5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267450"/>
            <a:ext cx="514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8201D"/>
                </a:solidFill>
              </a:defRPr>
            </a:pPr>
            <a:r>
              <a:rPr sz="1950">
                <a:solidFill>
                  <a:srgbClr val="18201D"/>
                </a:solidFill>
              </a:rPr>
              <a:t>StandardScaler + OneHotEncoder</a:t>
            </a:r>
          </a:p>
        </p:txBody>
      </p:sp>
    </p:spTree>
    <p:extLst>
      <p:ext uri="{BB962C8B-B14F-4D97-AF65-F5344CB8AC3E}">
        <p14:creationId xmlns:p14="http://schemas.microsoft.com/office/powerpoint/2010/main" val="13423951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FBB8560-F5CD-4FEF-B8BF-13E1F1EF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CDD3F0-2903-4211-9328-A51752D4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01D"/>
                </a:solidFill>
              </a:defRPr>
            </a:pPr>
            <a:r>
              <a:rPr sz="4050" b="1">
                <a:solidFill>
                  <a:srgbClr val="18201D"/>
                </a:solidFill>
              </a:rPr>
              <a:t>AutoML: простой перебор моделей sklearn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5A035-FAA2-458F-AB00-042B1CCC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7448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5706B"/>
                </a:solidFill>
              </a:defRPr>
            </a:pPr>
            <a:r>
              <a:rPr sz="2100">
                <a:solidFill>
                  <a:srgbClr val="65706B"/>
                </a:solidFill>
              </a:rPr>
              <a:t>Код обучает несколько моделей и выбирает лучшую по ROC-AUC.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2B951-C01C-45AA-A085-96A645F5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714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01D"/>
                </a:solidFill>
              </a:defRPr>
            </a:pPr>
            <a:r>
              <a:rPr sz="2100">
                <a:solidFill>
                  <a:srgbClr val="18201D"/>
                </a:solidFill>
              </a:rPr>
              <a:t>• LogisticRegression как интерпретируемый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08D7F-B996-4670-B554-01DE160A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714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01D"/>
                </a:solidFill>
              </a:defRPr>
            </a:pPr>
            <a:r>
              <a:rPr sz="2100">
                <a:solidFill>
                  <a:srgbClr val="18201D"/>
                </a:solidFill>
              </a:rPr>
              <a:t>• RandomForestClassifier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452B6-9AA6-4BA7-8EFB-7A432D91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714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01D"/>
                </a:solidFill>
              </a:defRPr>
            </a:pPr>
            <a:r>
              <a:rPr sz="2100">
                <a:solidFill>
                  <a:srgbClr val="18201D"/>
                </a:solidFill>
              </a:rPr>
              <a:t>• GradientBoostingClassifier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178F9-A1CA-49B1-B4C2-27855D08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714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01D"/>
                </a:solidFill>
              </a:defRPr>
            </a:pPr>
            <a:r>
              <a:rPr sz="2100">
                <a:solidFill>
                  <a:srgbClr val="18201D"/>
                </a:solidFill>
              </a:rPr>
              <a:t>• train_test_split со stratify по Exited</a:t>
            </a:r>
          </a:p>
        </p:txBody>
      </p:sp>
      <p:graphicFrame>
        <p:nvGraphicFramePr>
          <p:cNvPr id="8" name="leaderboard"/>
          <p:cNvGraphicFramePr/>
          <p:nvPr/>
        </p:nvGraphicFramePr>
        <p:xfrm>
          <a:off xmlns:a="http://schemas.openxmlformats.org/drawingml/2006/main" x="8635365" y="2194560"/>
          <a:ext xmlns:a="http://schemas.openxmlformats.org/drawingml/2006/main" cx="8738235" cy="73685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85932289fb4032"/>
          </a:graphicData>
        </a:graphic>
      </p:graphicFrame>
    </p:spTree>
    <p:extLst>
      <p:ext uri="{BB962C8B-B14F-4D97-AF65-F5344CB8AC3E}">
        <p14:creationId xmlns:p14="http://schemas.microsoft.com/office/powerpoint/2010/main" val="9357532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ADA0BDA-8C37-428E-9A1B-59447145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5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E69C53-6923-4EB1-B6E7-06BFC48A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Результат: GradientBoostingClassifier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EBBDA-9031-49CC-BFCB-C4ABCDC5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377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8B45D"/>
                </a:solidFill>
              </a:defRPr>
            </a:pPr>
            <a:r>
              <a:rPr sz="4350" b="1">
                <a:solidFill>
                  <a:srgbClr val="E8B45D"/>
                </a:solidFill>
              </a:rPr>
              <a:t>0.8877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065EB-293D-4452-BC97-BF3DFA55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77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06B"/>
                </a:solidFill>
              </a:defRPr>
            </a:pPr>
            <a:r>
              <a:rPr sz="1650">
                <a:solidFill>
                  <a:srgbClr val="65706B"/>
                </a:solidFill>
              </a:rPr>
              <a:t>ROC-AUC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5509C-E4BD-43AA-AE7E-7F055784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66900"/>
            <a:ext cx="377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DDEBE5"/>
                </a:solidFill>
              </a:defRPr>
            </a:pPr>
            <a:r>
              <a:rPr sz="4350" b="1">
                <a:solidFill>
                  <a:srgbClr val="DDEBE5"/>
                </a:solidFill>
              </a:rPr>
              <a:t>0.8635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9B71C-6D01-4C1C-AD33-63BEF52F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09850"/>
            <a:ext cx="377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06B"/>
                </a:solidFill>
              </a:defRPr>
            </a:pPr>
            <a:r>
              <a:rPr sz="1650">
                <a:solidFill>
                  <a:srgbClr val="65706B"/>
                </a:solidFill>
              </a:rPr>
              <a:t>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79ACD-FFBC-4278-9588-C884E380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66900"/>
            <a:ext cx="377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DDEBE5"/>
                </a:solidFill>
              </a:defRPr>
            </a:pPr>
            <a:r>
              <a:rPr sz="4350" b="1">
                <a:solidFill>
                  <a:srgbClr val="DDEBE5"/>
                </a:solidFill>
              </a:rPr>
              <a:t>0.7583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4AB81-164D-423B-A6F8-EA7516A5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09850"/>
            <a:ext cx="377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06B"/>
                </a:solidFill>
              </a:defRPr>
            </a:pPr>
            <a:r>
              <a:rPr sz="1650">
                <a:solidFill>
                  <a:srgbClr val="65706B"/>
                </a:solidFill>
              </a:rPr>
              <a:t>Precision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788E1-DFF1-4102-B327-C8D51965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1866900"/>
            <a:ext cx="377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DDEBE5"/>
                </a:solidFill>
              </a:defRPr>
            </a:pPr>
            <a:r>
              <a:rPr sz="4350" b="1">
                <a:solidFill>
                  <a:srgbClr val="DDEBE5"/>
                </a:solidFill>
              </a:rPr>
              <a:t>0.6175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9AE43-51EF-428B-B519-A8373331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2609850"/>
            <a:ext cx="377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06B"/>
                </a:solidFill>
              </a:defRPr>
            </a:pPr>
            <a:r>
              <a:rPr sz="1650">
                <a:solidFill>
                  <a:srgbClr val="65706B"/>
                </a:solidFill>
              </a:rPr>
              <a:t>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F6303-8E52-4CB4-8F5E-3336435C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33159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DEBE5"/>
                </a:solidFill>
              </a:defRPr>
            </a:pPr>
            <a:r>
              <a:rPr sz="2550">
                <a:solidFill>
                  <a:srgbClr val="DDEBE5"/>
                </a:solidFill>
              </a:rPr>
              <a:t>Практический смысл: можно сформировать приоритетный список клиентов для удержания и не тратить одинаковый бюджет на всю клиентскую базу.</a:t>
            </a:r>
          </a:p>
        </p:txBody>
      </p:sp>
    </p:spTree>
    <p:extLst>
      <p:ext uri="{BB962C8B-B14F-4D97-AF65-F5344CB8AC3E}">
        <p14:creationId xmlns:p14="http://schemas.microsoft.com/office/powerpoint/2010/main" val="9400480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F2693C9-7A8B-407A-8785-EFC73D81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3591B8-6B6A-4066-9C0B-8A253107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01D"/>
                </a:solidFill>
              </a:defRPr>
            </a:pPr>
            <a:r>
              <a:rPr sz="4050" b="1">
                <a:solidFill>
                  <a:srgbClr val="18201D"/>
                </a:solidFill>
              </a:rPr>
              <a:t>Проект готов к проверке как ML-система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36FF1-4EDE-4606-9518-0D3A92AD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8267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5706B"/>
                </a:solidFill>
              </a:defRPr>
            </a:pPr>
            <a:r>
              <a:rPr sz="2100">
                <a:solidFill>
                  <a:srgbClr val="65706B"/>
                </a:solidFill>
              </a:rPr>
              <a:t>Код, тесты, контейнер, CI/CD и мониторинг лежат в GitHub-репозитории.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A0F24-131C-4E0E-8D37-246E6766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7924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01D"/>
                </a:solidFill>
              </a:defRPr>
            </a:pPr>
            <a:r>
              <a:rPr sz="2100">
                <a:solidFill>
                  <a:srgbClr val="18201D"/>
                </a:solidFill>
              </a:rPr>
              <a:t>• Pytest: 4 теста пройдены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E552A-5BFC-4E9C-B231-CE7030FB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7924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01D"/>
                </a:solidFill>
              </a:defRPr>
            </a:pPr>
            <a:r>
              <a:rPr sz="2100">
                <a:solidFill>
                  <a:srgbClr val="18201D"/>
                </a:solidFill>
              </a:rPr>
              <a:t>• Dockerfile: python:3.11-slim и запуск обучения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0A154-138E-4873-9999-A8EF3452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7924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01D"/>
                </a:solidFill>
              </a:defRPr>
            </a:pPr>
            <a:r>
              <a:rPr sz="2100">
                <a:solidFill>
                  <a:srgbClr val="18201D"/>
                </a:solidFill>
              </a:rPr>
              <a:t>• GitHub Actions: тесты, обучение, загрузка отчётов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5B104-C649-4E2E-9B39-AF3FB6BC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7924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01D"/>
                </a:solidFill>
              </a:defRPr>
            </a:pPr>
            <a:r>
              <a:rPr sz="2100">
                <a:solidFill>
                  <a:srgbClr val="18201D"/>
                </a:solidFill>
              </a:rPr>
              <a:t>• README: отчёт с архитектурой и выводами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E9EEB-51B2-4D41-88EC-FC095AE8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90750"/>
            <a:ext cx="7924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F7D6D"/>
                </a:solidFill>
              </a:defRPr>
            </a:pPr>
            <a:r>
              <a:rPr sz="4350" b="1">
                <a:solidFill>
                  <a:srgbClr val="2F7D6D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1C135-8E18-45CD-93CB-5FD540C6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33700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06B"/>
                </a:solidFill>
              </a:defRPr>
            </a:pPr>
            <a:r>
              <a:rPr sz="1650">
                <a:solidFill>
                  <a:srgbClr val="65706B"/>
                </a:solidFill>
              </a:rPr>
              <a:t>drift warnings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732E5-1AFD-4ACB-91E0-365EFD27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09950"/>
            <a:ext cx="7924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F7D6D"/>
                </a:solidFill>
              </a:defRPr>
            </a:pPr>
            <a:r>
              <a:rPr sz="4350" b="1">
                <a:solidFill>
                  <a:srgbClr val="2F7D6D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747D7-9B54-4AD0-A824-95B8186A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52900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06B"/>
                </a:solidFill>
              </a:defRPr>
            </a:pPr>
            <a:r>
              <a:rPr sz="1650">
                <a:solidFill>
                  <a:srgbClr val="65706B"/>
                </a:solidFill>
              </a:rPr>
              <a:t>missing values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75CA1-9D86-42A1-A251-9F8B60BC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29150"/>
            <a:ext cx="7924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355C7D"/>
                </a:solidFill>
              </a:defRPr>
            </a:pPr>
            <a:r>
              <a:rPr sz="4350" b="1">
                <a:solidFill>
                  <a:srgbClr val="355C7D"/>
                </a:solidFill>
              </a:rPr>
              <a:t>85.69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AA19B-CE7F-499A-BDFF-E8E613C6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372100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06B"/>
                </a:solidFill>
              </a:defRPr>
            </a:pPr>
            <a:r>
              <a:rPr sz="1650">
                <a:solidFill>
                  <a:srgbClr val="65706B"/>
                </a:solidFill>
              </a:rPr>
              <a:t>batch latency</a:t>
            </a:r>
          </a:p>
        </p:txBody>
      </p:sp>
    </p:spTree>
    <p:extLst>
      <p:ext uri="{BB962C8B-B14F-4D97-AF65-F5344CB8AC3E}">
        <p14:creationId xmlns:p14="http://schemas.microsoft.com/office/powerpoint/2010/main" val="2008663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2026-05-13T10:29:33.1620000Z</dcterms:created>
  <dcterms:modified xsi:type="dcterms:W3CDTF">2026-05-13T10:29:33.1620000Z</dcterms:modified>
</coreProperties>
</file>